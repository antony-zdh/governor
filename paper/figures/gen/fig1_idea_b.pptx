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00800" cy="21031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" y="45720"/>
            <a:ext cx="1199692" cy="1737359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100584"/>
            <a:ext cx="10716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1" i="0">
                <a:solidFill>
                  <a:srgbClr val="B45309"/>
                </a:solidFill>
                <a:latin typeface="Helvetica"/>
              </a:rPr>
              <a:t>1</a:t>
            </a:r>
            <a:r>
              <a:rPr sz="720" b="1" i="0">
                <a:solidFill>
                  <a:srgbClr val="1F2328"/>
                </a:solidFill>
                <a:latin typeface="Helvetica"/>
              </a:rPr>
              <a:t>  Agreement is not
terminality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" y="1508759"/>
            <a:ext cx="10716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60" b="0" i="1">
                <a:solidFill>
                  <a:srgbClr val="6B7280"/>
                </a:solidFill>
                <a:latin typeface="Helvetica"/>
              </a:rPr>
              <a:t>Probes agree while the</a:t>
            </a:r>
          </a:p>
          <a:p>
            <a:pPr algn="l">
              <a:lnSpc>
                <a:spcPct val="108000"/>
              </a:lnSpc>
            </a:pPr>
            <a:r>
              <a:rPr sz="560" b="0" i="1">
                <a:solidFill>
                  <a:srgbClr val="6B7280"/>
                </a:solidFill>
                <a:latin typeface="Helvetica"/>
              </a:rPr>
              <a:t>answer is still moving.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2529" y="594360"/>
            <a:ext cx="143168" cy="13716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2000"/>
              </a:lnSpc>
            </a:pPr>
            <a:r>
              <a:rPr sz="500" b="0" i="0">
                <a:solidFill>
                  <a:srgbClr val="DC2626"/>
                </a:solidFill>
                <a:latin typeface="Helvetica"/>
              </a:rPr>
              <a:t>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3013" y="594360"/>
            <a:ext cx="143168" cy="13716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63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2000"/>
              </a:lnSpc>
            </a:pPr>
            <a:r>
              <a:rPr sz="500" b="0" i="0">
                <a:solidFill>
                  <a:srgbClr val="065F46"/>
                </a:solidFill>
                <a:latin typeface="Helvetica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3497" y="594360"/>
            <a:ext cx="143168" cy="13716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2000"/>
              </a:lnSpc>
            </a:pPr>
            <a:r>
              <a:rPr sz="500" b="0" i="0">
                <a:solidFill>
                  <a:srgbClr val="DC2626"/>
                </a:solidFill>
                <a:latin typeface="Helvetica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3981" y="594360"/>
            <a:ext cx="143168" cy="13716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2000"/>
              </a:lnSpc>
            </a:pPr>
            <a:r>
              <a:rPr sz="500" b="0" i="0">
                <a:solidFill>
                  <a:srgbClr val="DC2626"/>
                </a:solidFill>
                <a:latin typeface="Helvetica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4466" y="594360"/>
            <a:ext cx="143168" cy="13716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2000"/>
              </a:lnSpc>
            </a:pPr>
            <a:r>
              <a:rPr sz="500" b="0" i="0">
                <a:solidFill>
                  <a:srgbClr val="DC2626"/>
                </a:solidFill>
                <a:latin typeface="Helvetica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4950" y="594360"/>
            <a:ext cx="143168" cy="13716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 w="63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2000"/>
              </a:lnSpc>
            </a:pPr>
            <a:r>
              <a:rPr sz="500" b="0" i="0">
                <a:solidFill>
                  <a:srgbClr val="DC2626"/>
                </a:solidFill>
                <a:latin typeface="Helvetica"/>
              </a:rPr>
              <a:t>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5434" y="594360"/>
            <a:ext cx="143168" cy="13716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63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2000"/>
              </a:lnSpc>
            </a:pPr>
            <a:r>
              <a:rPr sz="500" b="0" i="0">
                <a:solidFill>
                  <a:srgbClr val="065F46"/>
                </a:solidFill>
                <a:latin typeface="Helvetica"/>
              </a:rPr>
              <a:t>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" y="763524"/>
            <a:ext cx="1053388" cy="1828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1117396" y="754380"/>
            <a:ext cx="54864" cy="36576"/>
          </a:xfrm>
          <a:prstGeom prst="rightArrow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 rot="10800000">
            <a:off x="463078" y="790956"/>
            <a:ext cx="64008" cy="50292"/>
          </a:xfrm>
          <a:prstGeom prst="triangl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" y="845820"/>
            <a:ext cx="10533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560" b="1" i="0">
                <a:solidFill>
                  <a:srgbClr val="DC2626"/>
                </a:solidFill>
                <a:latin typeface="Helvetica"/>
              </a:rPr>
              <a:t>stop here?</a:t>
            </a:r>
          </a:p>
          <a:p>
            <a:pPr algn="ctr">
              <a:lnSpc>
                <a:spcPct val="110000"/>
              </a:lnSpc>
            </a:pPr>
            <a:r>
              <a:rPr sz="500" b="0" i="0">
                <a:solidFill>
                  <a:srgbClr val="6B7280"/>
                </a:solidFill>
                <a:latin typeface="Helvetica"/>
              </a:rPr>
              <a:t>three probes agree on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" y="475488"/>
            <a:ext cx="1053388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500" b="0" i="0">
                <a:solidFill>
                  <a:srgbClr val="6B7280"/>
                </a:solidFill>
                <a:latin typeface="Helvetica"/>
              </a:rPr>
              <a:t>true answer: </a:t>
            </a:r>
            <a:r>
              <a:rPr sz="580" b="1" i="0">
                <a:solidFill>
                  <a:srgbClr val="065F46"/>
                </a:solidFill>
                <a:latin typeface="Helvetica"/>
              </a:rPr>
              <a:t>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3136" y="45720"/>
            <a:ext cx="1199692" cy="1737359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87144" y="100584"/>
            <a:ext cx="10716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1" i="0">
                <a:solidFill>
                  <a:srgbClr val="B45309"/>
                </a:solidFill>
                <a:latin typeface="Helvetica"/>
              </a:rPr>
              <a:t>2</a:t>
            </a:r>
            <a:r>
              <a:rPr sz="720" b="1" i="0">
                <a:solidFill>
                  <a:srgbClr val="1F2328"/>
                </a:solidFill>
                <a:latin typeface="Helvetica"/>
              </a:rPr>
              <a:t>  So we searched the
whole rule 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7144" y="1508759"/>
            <a:ext cx="10716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60" b="0" i="1">
                <a:solidFill>
                  <a:srgbClr val="6B7280"/>
                </a:solidFill>
                <a:latin typeface="Helvetica"/>
              </a:rPr>
              <a:t>Can any consensus rule</a:t>
            </a:r>
          </a:p>
          <a:p>
            <a:pPr algn="l">
              <a:lnSpc>
                <a:spcPct val="108000"/>
              </a:lnSpc>
            </a:pPr>
            <a:r>
              <a:rPr sz="560" b="0" i="1">
                <a:solidFill>
                  <a:srgbClr val="6B7280"/>
                </a:solidFill>
                <a:latin typeface="Helvetica"/>
              </a:rPr>
              <a:t>be safe and saving?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6902" y="612648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96338" y="612648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55774" y="612648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15210" y="612648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74646" y="612648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34082" y="612648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3518" y="612648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52954" y="612648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736902" y="672084"/>
            <a:ext cx="47548" cy="47548"/>
          </a:xfrm>
          <a:prstGeom prst="rect">
            <a:avLst/>
          </a:prstGeom>
          <a:solidFill>
            <a:srgbClr val="E5E7EB"/>
          </a:solidFill>
          <a:ln w="6350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96338" y="672084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55774" y="672084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15210" y="672084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74646" y="672084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034082" y="672084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93518" y="672084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152954" y="672084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36902" y="731520"/>
            <a:ext cx="47548" cy="47548"/>
          </a:xfrm>
          <a:prstGeom prst="rect">
            <a:avLst/>
          </a:prstGeom>
          <a:solidFill>
            <a:srgbClr val="E5E7EB"/>
          </a:solidFill>
          <a:ln w="6350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796338" y="731520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855774" y="731520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915210" y="731520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74646" y="731520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034082" y="731520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093518" y="731520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152954" y="731520"/>
            <a:ext cx="47548" cy="47548"/>
          </a:xfrm>
          <a:prstGeom prst="rect">
            <a:avLst/>
          </a:prstGeom>
          <a:solidFill>
            <a:srgbClr val="FDE68A"/>
          </a:solidFill>
          <a:ln w="63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59712" y="608076"/>
            <a:ext cx="34061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459" b="0" i="0">
                <a:solidFill>
                  <a:srgbClr val="6B7280"/>
                </a:solidFill>
                <a:latin typeface="Helvetica"/>
              </a:rPr>
              <a:t>s 1.0</a:t>
            </a:r>
          </a:p>
          <a:p>
            <a:pPr algn="r">
              <a:lnSpc>
                <a:spcPct val="122000"/>
              </a:lnSpc>
            </a:pPr>
            <a:r>
              <a:rPr sz="459" b="0" i="0">
                <a:solidFill>
                  <a:srgbClr val="6B7280"/>
                </a:solidFill>
                <a:latin typeface="Helvetica"/>
              </a:rPr>
              <a:t>0.8</a:t>
            </a:r>
          </a:p>
          <a:p>
            <a:pPr algn="r">
              <a:lnSpc>
                <a:spcPct val="122000"/>
              </a:lnSpc>
            </a:pPr>
            <a:r>
              <a:rPr sz="459" b="0" i="0">
                <a:solidFill>
                  <a:srgbClr val="6B7280"/>
                </a:solidFill>
                <a:latin typeface="Helvetica"/>
              </a:rPr>
              <a:t>0.6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36902" y="800100"/>
            <a:ext cx="7379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59" b="0" i="0">
                <a:solidFill>
                  <a:srgbClr val="6B7280"/>
                </a:solidFill>
                <a:latin typeface="Helvetica"/>
              </a:rPr>
              <a:t>W = 1 → 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96288" y="877824"/>
            <a:ext cx="10533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800" b="1" i="0">
                <a:solidFill>
                  <a:srgbClr val="B45309"/>
                </a:solidFill>
                <a:latin typeface="Helvetica"/>
              </a:rPr>
              <a:t>3,520 rules</a:t>
            </a:r>
          </a:p>
          <a:p>
            <a:pPr algn="ctr">
              <a:lnSpc>
                <a:spcPct val="112000"/>
              </a:lnSpc>
            </a:pPr>
            <a:r>
              <a:rPr sz="500" b="0" i="0">
                <a:solidFill>
                  <a:srgbClr val="6B7280"/>
                </a:solidFill>
                <a:latin typeface="Helvetica"/>
              </a:rPr>
              <a:t>window size × share threshold,</a:t>
            </a:r>
          </a:p>
          <a:p>
            <a:pPr algn="ctr">
              <a:lnSpc>
                <a:spcPct val="112000"/>
              </a:lnSpc>
            </a:pPr>
            <a:r>
              <a:rPr sz="500" b="0" i="0">
                <a:solidFill>
                  <a:srgbClr val="6B7280"/>
                </a:solidFill>
                <a:latin typeface="Helvetica"/>
              </a:rPr>
              <a:t>× schedule / maturity / validity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00553" y="45720"/>
            <a:ext cx="1199692" cy="1737359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64561" y="100584"/>
            <a:ext cx="10716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1" i="0">
                <a:solidFill>
                  <a:srgbClr val="B45309"/>
                </a:solidFill>
                <a:latin typeface="Helvetica"/>
              </a:rPr>
              <a:t>3</a:t>
            </a:r>
            <a:r>
              <a:rPr sz="720" b="1" i="0">
                <a:solidFill>
                  <a:srgbClr val="1F2328"/>
                </a:solidFill>
                <a:latin typeface="Helvetica"/>
              </a:rPr>
              <a:t>  Not one clears a
preregistered gate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64561" y="1508759"/>
            <a:ext cx="10716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60" b="0" i="1">
                <a:solidFill>
                  <a:srgbClr val="6B7280"/>
                </a:solidFill>
                <a:latin typeface="Helvetica"/>
              </a:rPr>
              <a:t>Safe forces zero saving;</a:t>
            </a:r>
          </a:p>
          <a:p>
            <a:pPr algn="l">
              <a:lnSpc>
                <a:spcPct val="108000"/>
              </a:lnSpc>
            </a:pPr>
            <a:r>
              <a:rPr sz="560" b="0" i="1">
                <a:solidFill>
                  <a:srgbClr val="6B7280"/>
                </a:solidFill>
                <a:latin typeface="Helvetica"/>
              </a:rPr>
              <a:t>saving forces a real loss.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65145" y="594360"/>
            <a:ext cx="87050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65145" y="594360"/>
            <a:ext cx="29016" cy="362102"/>
          </a:xfrm>
          <a:prstGeom prst="rect">
            <a:avLst/>
          </a:prstGeom>
          <a:solidFill>
            <a:srgbClr val="DCFCE7"/>
          </a:solidFill>
          <a:ln w="762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622852" y="69220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622852" y="69656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622852" y="72627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798018" y="97665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802855" y="96764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409255" y="795114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210435" y="871433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290" y="933834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622852" y="70824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622852" y="689466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213659" y="85722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377552" y="80311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24617" y="96986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54440" y="93891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543324" y="76994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622852" y="607426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124996" y="88849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051379" y="88374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941222" y="91763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123384" y="87570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884532" y="949496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22852" y="644462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146491" y="849303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291038" y="817061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051379" y="885243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622852" y="69799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046006" y="87857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622852" y="73323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150252" y="85356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622852" y="76386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802855" y="97449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881039" y="92427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802855" y="96764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052991" y="883561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049230" y="906544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2909787" y="93474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219839" y="84457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801242" y="98019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2779211" y="983211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857933" y="94629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859276" y="94514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028005" y="907713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622852" y="742762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409524" y="80991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034453" y="88892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802855" y="97673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247781" y="850476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518069" y="76540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2801242" y="978946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208017" y="84068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519412" y="79389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047887" y="88022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518069" y="76540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2834290" y="947253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046006" y="87857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346654" y="819291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3431824" y="78927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2824617" y="961852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987703" y="90425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3622852" y="73428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2802855" y="982496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2941222" y="91763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3041438" y="889371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2968090" y="90666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3054604" y="907371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3622852" y="74920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3622852" y="70916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22852" y="75312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802855" y="97449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2942834" y="922072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2948208" y="92566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3452781" y="78769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519144" y="79429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2826229" y="959744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2882920" y="933043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2834290" y="947253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2809303" y="95201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3622852" y="706406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2826229" y="96161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2884532" y="94867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3257454" y="847772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3148640" y="85668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3522905" y="79554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2801242" y="978946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3094905" y="88617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3364386" y="80684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2832677" y="961244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2801242" y="98019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2986091" y="883663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3263902" y="844413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3452512" y="745193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3480186" y="769946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2859276" y="94514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924565" y="91171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622852" y="70480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2802855" y="96764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2806079" y="967422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3622852" y="706741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3140042" y="85123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2799630" y="98256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3321398" y="825096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3388299" y="81676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2799630" y="98256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2946596" y="91649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2864113" y="919144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3406031" y="786484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3622852" y="73921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3364386" y="81834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2831065" y="962956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2924565" y="91171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3098398" y="858871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3434779" y="82910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3622852" y="70657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3366536" y="81978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2802855" y="977633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3622852" y="69287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2894204" y="93138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2859545" y="945813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3388299" y="81676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3263633" y="817156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2827841" y="95314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3622852" y="684872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2974807" y="90933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2857664" y="94271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3622852" y="67196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2884532" y="928072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3622852" y="71742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3622852" y="64211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2998182" y="907282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3156700" y="872491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2834290" y="94136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3215003" y="828852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2939610" y="918853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3046006" y="87857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2894204" y="93138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098398" y="858871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2801242" y="97881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3156700" y="872491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2944447" y="92115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622852" y="63022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3077978" y="887922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3071530" y="892793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2882920" y="92924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3333757" y="82199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2976419" y="90727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2779211" y="983211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3058096" y="87208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3219839" y="84457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3190016" y="837602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3622852" y="76597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2783433" y="603504"/>
            <a:ext cx="609356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" b="0" i="0">
                <a:solidFill>
                  <a:srgbClr val="15803D"/>
                </a:solidFill>
                <a:latin typeface="Helvetica"/>
              </a:rPr>
              <a:t>safe &amp;</a:t>
            </a:r>
          </a:p>
          <a:p>
            <a:pPr algn="l">
              <a:lnSpc>
                <a:spcPct val="105000"/>
              </a:lnSpc>
            </a:pPr>
            <a:r>
              <a:rPr sz="400" b="0" i="0">
                <a:solidFill>
                  <a:srgbClr val="15803D"/>
                </a:solidFill>
                <a:latin typeface="Helvetica"/>
              </a:rPr>
              <a:t>saving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2673705" y="1010412"/>
            <a:ext cx="1053388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470" b="0" i="1">
                <a:solidFill>
                  <a:srgbClr val="6B7280"/>
                </a:solidFill>
                <a:latin typeface="Helvetica"/>
              </a:rPr>
              <a:t>gates fixed before the sweep ran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2728569" y="1115568"/>
            <a:ext cx="943660" cy="228600"/>
          </a:xfrm>
          <a:prstGeom prst="roundRect">
            <a:avLst>
              <a:gd name="adj" fmla="val 1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2000"/>
              </a:lnSpc>
            </a:pPr>
            <a:r>
              <a:rPr sz="1000" b="1" i="0">
                <a:solidFill>
                  <a:srgbClr val="FFFFFF"/>
                </a:solidFill>
                <a:latin typeface="Helvetica"/>
              </a:rPr>
              <a:t>0 / 3,520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3877970" y="45720"/>
            <a:ext cx="1199692" cy="1737359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3941978" y="100584"/>
            <a:ext cx="10716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1" i="0">
                <a:solidFill>
                  <a:srgbClr val="065F46"/>
                </a:solidFill>
                <a:latin typeface="Helvetica"/>
              </a:rPr>
              <a:t>4</a:t>
            </a:r>
            <a:r>
              <a:rPr sz="720" b="1" i="0">
                <a:solidFill>
                  <a:srgbClr val="1F2328"/>
                </a:solidFill>
                <a:latin typeface="Helvetica"/>
              </a:rPr>
              <a:t>  A non-consensus
signal clears them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3941978" y="1508759"/>
            <a:ext cx="10716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60" b="0" i="1">
                <a:solidFill>
                  <a:srgbClr val="6B7280"/>
                </a:solidFill>
                <a:latin typeface="Helvetica"/>
              </a:rPr>
              <a:t>The failure is the signal,</a:t>
            </a:r>
          </a:p>
          <a:p>
            <a:pPr algn="l">
              <a:lnSpc>
                <a:spcPct val="108000"/>
              </a:lnSpc>
            </a:pPr>
            <a:r>
              <a:rPr sz="560" b="0" i="1">
                <a:solidFill>
                  <a:srgbClr val="6B7280"/>
                </a:solidFill>
                <a:latin typeface="Helvetica"/>
              </a:rPr>
              <a:t>not early exit.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4042562" y="594360"/>
            <a:ext cx="87050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4042562" y="594360"/>
            <a:ext cx="29016" cy="362102"/>
          </a:xfrm>
          <a:prstGeom prst="rect">
            <a:avLst/>
          </a:prstGeom>
          <a:solidFill>
            <a:srgbClr val="DCFCE7"/>
          </a:solidFill>
          <a:ln w="762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4900269" y="69220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4900269" y="69656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4900269" y="72627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4075435" y="97665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080271" y="96764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686672" y="795114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4487852" y="871433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4111706" y="933834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4900269" y="70824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4900269" y="689466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4491076" y="85722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4654968" y="80311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4102034" y="96986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4131857" y="93891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4820741" y="76994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4900269" y="607426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4402413" y="88849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4328796" y="88374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4218639" y="91763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4400801" y="87570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161949" y="949496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900269" y="644462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4423907" y="849303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4568455" y="817061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4328796" y="885243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4900269" y="69799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323423" y="87857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900269" y="73323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4427669" y="85356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4900269" y="76386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4080271" y="97449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4158456" y="92427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4080271" y="96764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4330408" y="883561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4326647" y="906544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4187204" y="93474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4497256" y="84457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4078659" y="98019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4056628" y="983211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4135350" y="94629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4136693" y="94514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4305421" y="907713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4900269" y="742762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4686941" y="80991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4311870" y="88892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4080271" y="97673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4525198" y="850476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4795486" y="76540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4078659" y="978946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4485434" y="84068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4796829" y="79389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4325303" y="88022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4795486" y="76540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4111706" y="947253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4323423" y="87857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4624071" y="819291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4709241" y="78927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4102034" y="961852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4265120" y="90425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4900269" y="73428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4080271" y="982496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4218639" y="91763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4318855" y="889371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4245507" y="90666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4332020" y="907371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4900269" y="74920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4900269" y="70916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4900269" y="75312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4080271" y="97449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4220251" y="922072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4225625" y="92566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4730197" y="78769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4796560" y="79429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4103646" y="959744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4160337" y="933043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4111706" y="947253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4086720" y="95201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4900269" y="706406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4103646" y="96161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4161949" y="94867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4534870" y="847772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4426057" y="85668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4800322" y="79554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4078659" y="978946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4372322" y="88617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4641803" y="80684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4110094" y="961244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4078659" y="98019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4263508" y="883663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4541319" y="844413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4729929" y="745193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4757602" y="769946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4136693" y="94514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4201981" y="91171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4900269" y="70480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4080271" y="96764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4083495" y="967422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4900269" y="706741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4417459" y="85123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4077047" y="98256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4598815" y="825096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4665715" y="81676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4077047" y="98256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4224013" y="91649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4141529" y="919144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4683448" y="786484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4900269" y="73921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4641803" y="81834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4108482" y="962956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4201981" y="91171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4375814" y="858871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4712196" y="82910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4900269" y="70657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4643953" y="81978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4080271" y="977633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4900269" y="69287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4171621" y="93138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4136962" y="945813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4665715" y="81676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4541050" y="817156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4105258" y="95314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4900269" y="684872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4252224" y="90933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4135081" y="94271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4900269" y="67196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4161949" y="928072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4900269" y="71742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4900269" y="64211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4275598" y="907282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4434117" y="872491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4111706" y="94136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4492420" y="828852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4217027" y="918853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4323423" y="87857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4171621" y="93138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4375814" y="858871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4078659" y="97881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4434117" y="872491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4221863" y="92115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900269" y="630229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4355395" y="887922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4348947" y="892793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4160337" y="92924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4611174" y="82199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4253836" y="907278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4056628" y="983211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4335513" y="872087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4497256" y="844570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4467433" y="837602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4900269" y="765975"/>
            <a:ext cx="25603" cy="25603"/>
          </a:xfrm>
          <a:prstGeom prst="ellipse">
            <a:avLst/>
          </a:prstGeom>
          <a:solidFill>
            <a:srgbClr val="B9BE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4016959" y="946097"/>
            <a:ext cx="51206" cy="5120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4016959" y="922663"/>
            <a:ext cx="51206" cy="5120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4016959" y="887460"/>
            <a:ext cx="51206" cy="5120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4018571" y="870873"/>
            <a:ext cx="51206" cy="5120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4018571" y="868781"/>
            <a:ext cx="51206" cy="5120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4026631" y="857601"/>
            <a:ext cx="51206" cy="5120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4046782" y="852156"/>
            <a:ext cx="51206" cy="5120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4096755" y="842591"/>
            <a:ext cx="51206" cy="5120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4187299" y="831208"/>
            <a:ext cx="51206" cy="5120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4348504" y="799572"/>
            <a:ext cx="51206" cy="5120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4592999" y="757314"/>
            <a:ext cx="51206" cy="5120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4685423" y="750087"/>
            <a:ext cx="51206" cy="5120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4748562" y="740099"/>
            <a:ext cx="51206" cy="5120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4786445" y="715657"/>
            <a:ext cx="51206" cy="5120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4" name="TextBox 373"/>
          <p:cNvSpPr txBox="1"/>
          <p:nvPr/>
        </p:nvSpPr>
        <p:spPr>
          <a:xfrm>
            <a:off x="4060850" y="603504"/>
            <a:ext cx="609356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" b="0" i="0">
                <a:solidFill>
                  <a:srgbClr val="15803D"/>
                </a:solidFill>
                <a:latin typeface="Helvetica"/>
              </a:rPr>
              <a:t>safe &amp;</a:t>
            </a:r>
          </a:p>
          <a:p>
            <a:pPr algn="l">
              <a:lnSpc>
                <a:spcPct val="105000"/>
              </a:lnSpc>
            </a:pPr>
            <a:r>
              <a:rPr sz="400" b="0" i="0">
                <a:solidFill>
                  <a:srgbClr val="15803D"/>
                </a:solidFill>
                <a:latin typeface="Helvetica"/>
              </a:rPr>
              <a:t>saving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3951122" y="1010412"/>
            <a:ext cx="1053388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470" b="0" i="1">
                <a:solidFill>
                  <a:srgbClr val="6B7280"/>
                </a:solidFill>
                <a:latin typeface="Helvetica"/>
              </a:rPr>
              <a:t>identical pipeline and gates</a:t>
            </a:r>
          </a:p>
        </p:txBody>
      </p:sp>
      <p:sp>
        <p:nvSpPr>
          <p:cNvPr id="376" name="Rounded Rectangle 375"/>
          <p:cNvSpPr/>
          <p:nvPr/>
        </p:nvSpPr>
        <p:spPr>
          <a:xfrm>
            <a:off x="4005986" y="1115568"/>
            <a:ext cx="943660" cy="2286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2000"/>
              </a:lnSpc>
            </a:pPr>
            <a:r>
              <a:rPr sz="840" b="1" i="0">
                <a:solidFill>
                  <a:srgbClr val="FFFFFF"/>
                </a:solidFill>
                <a:latin typeface="Helvetica"/>
              </a:rPr>
              <a:t>DEER  3 / 3</a:t>
            </a:r>
          </a:p>
          <a:p>
            <a:pPr algn="ctr">
              <a:lnSpc>
                <a:spcPct val="92000"/>
              </a:lnSpc>
            </a:pPr>
            <a:r>
              <a:rPr sz="520" b="0" i="0">
                <a:solidFill>
                  <a:srgbClr val="FFFFFF"/>
                </a:solidFill>
                <a:latin typeface="Helvetica"/>
              </a:rPr>
              <a:t>−0.3 pp @ 28% saved</a:t>
            </a:r>
          </a:p>
        </p:txBody>
      </p:sp>
      <p:sp>
        <p:nvSpPr>
          <p:cNvPr id="377" name="Rounded Rectangle 376"/>
          <p:cNvSpPr/>
          <p:nvPr/>
        </p:nvSpPr>
        <p:spPr>
          <a:xfrm>
            <a:off x="5155387" y="45720"/>
            <a:ext cx="1199692" cy="1737359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5219395" y="100584"/>
            <a:ext cx="10716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1" i="0">
                <a:solidFill>
                  <a:srgbClr val="B45309"/>
                </a:solidFill>
                <a:latin typeface="Helvetica"/>
              </a:rPr>
              <a:t>5</a:t>
            </a:r>
            <a:r>
              <a:rPr sz="720" b="1" i="0">
                <a:solidFill>
                  <a:srgbClr val="1F2328"/>
                </a:solidFill>
                <a:latin typeface="Helvetica"/>
              </a:rPr>
              <a:t>  Why the signal
fails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5219395" y="1508759"/>
            <a:ext cx="10716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60" b="0" i="1">
                <a:solidFill>
                  <a:srgbClr val="6B7280"/>
                </a:solidFill>
                <a:latin typeface="Helvetica"/>
              </a:rPr>
              <a:t>Forced probing masks the</a:t>
            </a:r>
          </a:p>
          <a:p>
            <a:pPr algn="l">
              <a:lnSpc>
                <a:spcPct val="108000"/>
              </a:lnSpc>
            </a:pPr>
            <a:r>
              <a:rPr sz="560" b="0" i="1">
                <a:solidFill>
                  <a:srgbClr val="6B7280"/>
                </a:solidFill>
                <a:latin typeface="Helvetica"/>
              </a:rPr>
              <a:t>model's true estimate.</a:t>
            </a:r>
          </a:p>
        </p:txBody>
      </p:sp>
      <p:sp>
        <p:nvSpPr>
          <p:cNvPr id="380" name="Cloud Callout 379"/>
          <p:cNvSpPr/>
          <p:nvPr/>
        </p:nvSpPr>
        <p:spPr>
          <a:xfrm>
            <a:off x="5228539" y="539496"/>
            <a:ext cx="1053388" cy="347472"/>
          </a:xfrm>
          <a:prstGeom prst="cloudCallout">
            <a:avLst/>
          </a:prstGeom>
          <a:solidFill>
            <a:srgbClr val="FFFFFF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2000"/>
              </a:lnSpc>
            </a:pPr>
            <a:r>
              <a:rPr sz="560" b="0" i="1">
                <a:solidFill>
                  <a:srgbClr val="6B7280"/>
                </a:solidFill>
                <a:latin typeface="Helvetica"/>
              </a:rPr>
              <a:t>“…not sure yet”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5228539" y="914400"/>
            <a:ext cx="105338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500" b="0" i="0">
                <a:solidFill>
                  <a:srgbClr val="6B7280"/>
                </a:solidFill>
                <a:latin typeface="Helvetica"/>
              </a:rPr>
              <a:t>but the probe forces an answer</a:t>
            </a:r>
          </a:p>
        </p:txBody>
      </p:sp>
      <p:sp>
        <p:nvSpPr>
          <p:cNvPr id="382" name="Rounded Rectangle 381"/>
          <p:cNvSpPr/>
          <p:nvPr/>
        </p:nvSpPr>
        <p:spPr>
          <a:xfrm>
            <a:off x="5572353" y="1042416"/>
            <a:ext cx="365760" cy="173736"/>
          </a:xfrm>
          <a:prstGeom prst="roundRect">
            <a:avLst>
              <a:gd name="adj" fmla="val 14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2000"/>
              </a:lnSpc>
            </a:pPr>
            <a:r>
              <a:rPr sz="700" b="1" i="0">
                <a:solidFill>
                  <a:srgbClr val="DC2626"/>
                </a:solidFill>
                <a:latin typeface="Helvetica"/>
              </a:rPr>
              <a:t>12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5228539" y="1243584"/>
            <a:ext cx="10533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520" b="0" i="0">
                <a:solidFill>
                  <a:srgbClr val="DC2626"/>
                </a:solidFill>
                <a:latin typeface="Helvetica"/>
              </a:rPr>
              <a:t>a placeholder, repeated</a:t>
            </a:r>
          </a:p>
          <a:p>
            <a:pPr algn="ctr">
              <a:lnSpc>
                <a:spcPct val="110000"/>
              </a:lnSpc>
            </a:pPr>
            <a:r>
              <a:rPr sz="520" b="1" i="0">
                <a:solidFill>
                  <a:srgbClr val="DC2626"/>
                </a:solidFill>
                <a:latin typeface="Helvetica"/>
              </a:rPr>
              <a:t>→ read as consensus</a:t>
            </a:r>
          </a:p>
        </p:txBody>
      </p:sp>
      <p:sp>
        <p:nvSpPr>
          <p:cNvPr id="384" name="Right Arrow 383"/>
          <p:cNvSpPr/>
          <p:nvPr/>
        </p:nvSpPr>
        <p:spPr>
          <a:xfrm>
            <a:off x="1256385" y="862279"/>
            <a:ext cx="55778" cy="64008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5" name="Right Arrow 384"/>
          <p:cNvSpPr/>
          <p:nvPr/>
        </p:nvSpPr>
        <p:spPr>
          <a:xfrm>
            <a:off x="2533802" y="862279"/>
            <a:ext cx="55778" cy="64008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6" name="Right Arrow 385"/>
          <p:cNvSpPr/>
          <p:nvPr/>
        </p:nvSpPr>
        <p:spPr>
          <a:xfrm>
            <a:off x="3811219" y="862279"/>
            <a:ext cx="55778" cy="64008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7" name="Right Arrow 386"/>
          <p:cNvSpPr/>
          <p:nvPr/>
        </p:nvSpPr>
        <p:spPr>
          <a:xfrm>
            <a:off x="5088636" y="862279"/>
            <a:ext cx="55778" cy="64008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8" name="Rounded Rectangle 387"/>
          <p:cNvSpPr/>
          <p:nvPr/>
        </p:nvSpPr>
        <p:spPr>
          <a:xfrm>
            <a:off x="45720" y="1819656"/>
            <a:ext cx="6309360" cy="237744"/>
          </a:xfrm>
          <a:prstGeom prst="roundRect">
            <a:avLst>
              <a:gd name="adj" fmla="val 10000"/>
            </a:avLst>
          </a:prstGeom>
          <a:solidFill>
            <a:srgbClr val="1F2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2000"/>
              </a:lnSpc>
            </a:pPr>
            <a:r>
              <a:rPr sz="819" b="0" i="0">
                <a:solidFill>
                  <a:srgbClr val="FFFFFF"/>
                </a:solidFill>
                <a:latin typeface="Helvetica"/>
              </a:rPr>
              <a:t>Early exit is possible — the consensus </a:t>
            </a:r>
            <a:r>
              <a:rPr sz="819" b="1" i="1">
                <a:solidFill>
                  <a:srgbClr val="FFFFFF"/>
                </a:solidFill>
                <a:latin typeface="Helvetica"/>
              </a:rPr>
              <a:t>signal</a:t>
            </a:r>
            <a:r>
              <a:rPr sz="819" b="0" i="0">
                <a:solidFill>
                  <a:srgbClr val="FFFFFF"/>
                </a:solidFill>
                <a:latin typeface="Helvetica"/>
              </a:rPr>
              <a:t> is what cannot make it safe.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