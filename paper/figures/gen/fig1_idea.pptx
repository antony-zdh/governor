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" y="54864"/>
            <a:ext cx="1645920" cy="21031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123444"/>
            <a:ext cx="14813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>
                <a:solidFill>
                  <a:srgbClr val="B45309"/>
                </a:solidFill>
                <a:latin typeface="Helvetica"/>
              </a:rPr>
              <a:t>a</a:t>
            </a:r>
            <a:r>
              <a:rPr sz="850" b="1" i="0">
                <a:solidFill>
                  <a:srgbClr val="1F2328"/>
                </a:solidFill>
                <a:latin typeface="Helvetica"/>
              </a:rPr>
              <a:t>   Agreement ≠ 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60604"/>
            <a:ext cx="14813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 i="1">
                <a:solidFill>
                  <a:srgbClr val="6B7280"/>
                </a:solidFill>
                <a:latin typeface="Helvetica"/>
              </a:rPr>
              <a:t>the real probe stream of one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" y="420624"/>
            <a:ext cx="14447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1F2328"/>
                </a:solidFill>
                <a:latin typeface="Helvetica"/>
              </a:rPr>
              <a:t>The answer is still moving.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6B7280"/>
                </a:solidFill>
                <a:latin typeface="Helvetica"/>
              </a:rPr>
              <a:t>Stopping on agreement destroys a recovery the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6B7280"/>
                </a:solidFill>
                <a:latin typeface="Helvetica"/>
              </a:rPr>
              <a:t>trajectory would have made on its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987552"/>
            <a:ext cx="22893" cy="192024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674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9901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2128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4355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6582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809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1036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263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5490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717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44" y="987552"/>
            <a:ext cx="22893" cy="192024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171" y="987552"/>
            <a:ext cx="22893" cy="192024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398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625" y="987552"/>
            <a:ext cx="22893" cy="192024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8852" y="987552"/>
            <a:ext cx="22893" cy="192024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079" y="987552"/>
            <a:ext cx="22893" cy="192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3306" y="987552"/>
            <a:ext cx="22893" cy="192024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5533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7760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9987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14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440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6667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8894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21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3348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575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02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029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256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4483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6710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8937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1164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3391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5618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7845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0072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2299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4526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6753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8980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11207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3433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55660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77887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00114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22341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44568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66795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89022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11249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33476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55703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377930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00157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22384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44611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66838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89065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11292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533519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55746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77973" y="987552"/>
            <a:ext cx="22893" cy="1920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1790" y="983894"/>
            <a:ext cx="1452067" cy="199339"/>
          </a:xfrm>
          <a:prstGeom prst="rect">
            <a:avLst/>
          </a:prstGeom>
          <a:noFill/>
          <a:ln w="6350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5448" y="854964"/>
            <a:ext cx="66458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1" i="0">
                <a:solidFill>
                  <a:srgbClr val="DC2626"/>
                </a:solidFill>
                <a:latin typeface="Helvetica"/>
              </a:rPr>
              <a:t>10 ×  “37”  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8928" y="854964"/>
            <a:ext cx="75127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620" b="1" i="0">
                <a:solidFill>
                  <a:srgbClr val="065F46"/>
                </a:solidFill>
                <a:latin typeface="Helvetica"/>
              </a:rPr>
              <a:t>“46”  ✓  to the end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5448" y="1207008"/>
            <a:ext cx="1444752" cy="6400"/>
          </a:xfrm>
          <a:prstGeom prst="rect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1225296"/>
            <a:ext cx="822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520" b="0" i="0">
                <a:solidFill>
                  <a:srgbClr val="6B7280"/>
                </a:solidFill>
                <a:latin typeface="Helvetica"/>
              </a:rPr>
              <a:t>4,197 generated tokens</a:t>
            </a:r>
          </a:p>
        </p:txBody>
      </p:sp>
      <p:sp>
        <p:nvSpPr>
          <p:cNvPr id="76" name="Isosceles Triangle 75"/>
          <p:cNvSpPr/>
          <p:nvPr/>
        </p:nvSpPr>
        <p:spPr>
          <a:xfrm rot="10800000">
            <a:off x="194837" y="1184148"/>
            <a:ext cx="76809" cy="56692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5448" y="1339596"/>
            <a:ext cx="1444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1" i="0">
                <a:solidFill>
                  <a:srgbClr val="DC2626"/>
                </a:solidFill>
                <a:latin typeface="Helvetica"/>
              </a:rPr>
              <a:t>consensus fires at 256, on “37”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5448" y="1828800"/>
            <a:ext cx="1444752" cy="246888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40" b="1" i="0">
                <a:solidFill>
                  <a:srgbClr val="B45309"/>
                </a:solidFill>
                <a:latin typeface="Helvetica"/>
              </a:rPr>
              <a:t>harm : rescue  45:1 → 2:1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029968" y="54864"/>
            <a:ext cx="2157984" cy="21031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12264" y="123444"/>
            <a:ext cx="19933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>
                <a:solidFill>
                  <a:srgbClr val="B45309"/>
                </a:solidFill>
                <a:latin typeface="Helvetica"/>
              </a:rPr>
              <a:t>b</a:t>
            </a:r>
            <a:r>
              <a:rPr sz="850" b="1" i="0">
                <a:solidFill>
                  <a:srgbClr val="1F2328"/>
                </a:solidFill>
                <a:latin typeface="Helvetica"/>
              </a:rPr>
              <a:t>   3,520 rules, gates fixed in advance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12264" y="260604"/>
            <a:ext cx="19933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 i="1">
                <a:solidFill>
                  <a:srgbClr val="6B7280"/>
                </a:solidFill>
                <a:latin typeface="Helvetica"/>
              </a:rPr>
              <a:t>preregistered sweep on frozen trajectories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30552" y="457200"/>
            <a:ext cx="1956815" cy="2377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00" b="1" i="0">
                <a:solidFill>
                  <a:srgbClr val="1F2328"/>
                </a:solidFill>
                <a:latin typeface="Helvetica"/>
              </a:rPr>
              <a:t>18 frozen environments</a:t>
            </a:r>
          </a:p>
          <a:p>
            <a:pPr algn="ctr">
              <a:lnSpc>
                <a:spcPct val="92000"/>
              </a:lnSpc>
            </a:pPr>
            <a:r>
              <a:rPr sz="560" b="0" i="0">
                <a:solidFill>
                  <a:srgbClr val="6B7280"/>
                </a:solidFill>
                <a:latin typeface="Helvetica"/>
              </a:rPr>
              <a:t>2 models × 3 benchmarks × 3 seeds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38831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598267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657703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17139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76575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836011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95447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54883" y="841247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538831" y="900683"/>
            <a:ext cx="47548" cy="47548"/>
          </a:xfrm>
          <a:prstGeom prst="rect">
            <a:avLst/>
          </a:prstGeom>
          <a:solidFill>
            <a:srgbClr val="E5E7EB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598267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57703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17139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776575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836011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895447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54883" y="900683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38831" y="960119"/>
            <a:ext cx="47548" cy="47548"/>
          </a:xfrm>
          <a:prstGeom prst="rect">
            <a:avLst/>
          </a:prstGeom>
          <a:solidFill>
            <a:srgbClr val="E5E7EB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598267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57703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717139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776575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836011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895447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954883" y="960119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19375" y="833018"/>
            <a:ext cx="187452" cy="64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1.0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19375" y="892454"/>
            <a:ext cx="187452" cy="64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0.8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19375" y="951890"/>
            <a:ext cx="187452" cy="64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0.6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319375" y="749808"/>
            <a:ext cx="18745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540" b="0" i="1">
                <a:solidFill>
                  <a:srgbClr val="6B7280"/>
                </a:solidFill>
                <a:latin typeface="Helvetica"/>
              </a:rPr>
              <a:t>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83967" y="1024127"/>
            <a:ext cx="1572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00019" y="1024127"/>
            <a:ext cx="1572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30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33472" y="1024127"/>
            <a:ext cx="27432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40" b="0" i="1">
                <a:solidFill>
                  <a:srgbClr val="6B7280"/>
                </a:solidFill>
                <a:latin typeface="Helvetica"/>
              </a:rPr>
              <a:t>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112160" y="845819"/>
            <a:ext cx="786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980" b="1" i="0">
                <a:solidFill>
                  <a:srgbClr val="B45309"/>
                </a:solidFill>
                <a:latin typeface="Helvetica"/>
              </a:rPr>
              <a:t>3,520</a:t>
            </a:r>
          </a:p>
          <a:p>
            <a:pPr algn="ctr">
              <a:lnSpc>
                <a:spcPct val="102000"/>
              </a:lnSpc>
            </a:pPr>
            <a:r>
              <a:rPr sz="620" b="0" i="0">
                <a:solidFill>
                  <a:srgbClr val="B45309"/>
                </a:solidFill>
                <a:latin typeface="Helvetica"/>
              </a:rPr>
              <a:t>consensus rules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41448" y="1188720"/>
            <a:ext cx="1335024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three preregistered gates</a:t>
            </a:r>
          </a:p>
        </p:txBody>
      </p:sp>
      <p:sp>
        <p:nvSpPr>
          <p:cNvPr id="116" name="Oval 115"/>
          <p:cNvSpPr/>
          <p:nvPr/>
        </p:nvSpPr>
        <p:spPr>
          <a:xfrm>
            <a:off x="2441448" y="1311249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40" b="1" i="0">
                <a:solidFill>
                  <a:srgbClr val="FFFFFF"/>
                </a:solidFill>
                <a:latin typeface="Helvetica"/>
              </a:rPr>
              <a:t>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555748" y="1293876"/>
            <a:ext cx="12207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0" i="0">
                <a:solidFill>
                  <a:srgbClr val="6B7280"/>
                </a:solidFill>
                <a:latin typeface="Helvetica"/>
              </a:rPr>
              <a:t>drop ≤ </a:t>
            </a:r>
            <a:r>
              <a:rPr sz="620" b="0" i="0">
                <a:solidFill>
                  <a:srgbClr val="1F2328"/>
                </a:solidFill>
                <a:latin typeface="Helvetica"/>
              </a:rPr>
              <a:t>1.0 pp</a:t>
            </a:r>
            <a:r>
              <a:rPr sz="620" b="0" i="0">
                <a:solidFill>
                  <a:srgbClr val="6B7280"/>
                </a:solidFill>
                <a:latin typeface="Helvetica"/>
              </a:rPr>
              <a:t>    saving ≥ </a:t>
            </a:r>
            <a:r>
              <a:rPr sz="620" b="0" i="0">
                <a:solidFill>
                  <a:srgbClr val="1F2328"/>
                </a:solidFill>
                <a:latin typeface="Helvetica"/>
              </a:rPr>
              <a:t>10%</a:t>
            </a:r>
          </a:p>
        </p:txBody>
      </p:sp>
      <p:sp>
        <p:nvSpPr>
          <p:cNvPr id="118" name="Oval 117"/>
          <p:cNvSpPr/>
          <p:nvPr/>
        </p:nvSpPr>
        <p:spPr>
          <a:xfrm>
            <a:off x="2441448" y="1443837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40" b="1" i="0">
                <a:solidFill>
                  <a:srgbClr val="FFFFFF"/>
                </a:solidFill>
                <a:latin typeface="Helvetica"/>
              </a:rPr>
              <a:t>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555748" y="1426464"/>
            <a:ext cx="12207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0" i="0">
                <a:solidFill>
                  <a:srgbClr val="6B7280"/>
                </a:solidFill>
                <a:latin typeface="Helvetica"/>
              </a:rPr>
              <a:t>drop ≤ </a:t>
            </a:r>
            <a:r>
              <a:rPr sz="620" b="0" i="0">
                <a:solidFill>
                  <a:srgbClr val="1F2328"/>
                </a:solidFill>
                <a:latin typeface="Helvetica"/>
              </a:rPr>
              <a:t>2.0 pp</a:t>
            </a:r>
            <a:r>
              <a:rPr sz="620" b="0" i="0">
                <a:solidFill>
                  <a:srgbClr val="6B7280"/>
                </a:solidFill>
                <a:latin typeface="Helvetica"/>
              </a:rPr>
              <a:t>    saving ≥ </a:t>
            </a:r>
            <a:r>
              <a:rPr sz="620" b="0" i="0">
                <a:solidFill>
                  <a:srgbClr val="1F2328"/>
                </a:solidFill>
                <a:latin typeface="Helvetica"/>
              </a:rPr>
              <a:t>20%</a:t>
            </a:r>
          </a:p>
        </p:txBody>
      </p:sp>
      <p:sp>
        <p:nvSpPr>
          <p:cNvPr id="120" name="Oval 119"/>
          <p:cNvSpPr/>
          <p:nvPr/>
        </p:nvSpPr>
        <p:spPr>
          <a:xfrm>
            <a:off x="2441448" y="1576425"/>
            <a:ext cx="82296" cy="82296"/>
          </a:xfrm>
          <a:prstGeom prst="ellipse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40" b="1" i="0">
                <a:solidFill>
                  <a:srgbClr val="FFFFFF"/>
                </a:solidFill>
                <a:latin typeface="Helvetica"/>
              </a:rPr>
              <a:t>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55748" y="1559052"/>
            <a:ext cx="12207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0" i="0">
                <a:solidFill>
                  <a:srgbClr val="6B7280"/>
                </a:solidFill>
                <a:latin typeface="Helvetica"/>
              </a:rPr>
              <a:t>drop ≤ </a:t>
            </a:r>
            <a:r>
              <a:rPr sz="620" b="0" i="0">
                <a:solidFill>
                  <a:srgbClr val="1F2328"/>
                </a:solidFill>
                <a:latin typeface="Helvetica"/>
              </a:rPr>
              <a:t>3.5 pp</a:t>
            </a:r>
            <a:r>
              <a:rPr sz="620" b="0" i="0">
                <a:solidFill>
                  <a:srgbClr val="6B7280"/>
                </a:solidFill>
                <a:latin typeface="Helvetica"/>
              </a:rPr>
              <a:t>    saving ≥ </a:t>
            </a:r>
            <a:r>
              <a:rPr sz="620" b="0" i="0">
                <a:solidFill>
                  <a:srgbClr val="1F2328"/>
                </a:solidFill>
                <a:latin typeface="Helvetica"/>
              </a:rPr>
              <a:t>30%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295144" y="1805940"/>
            <a:ext cx="1627631" cy="310896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</a:rPr>
              <a:t>0 / 3,520</a:t>
            </a:r>
            <a:r>
              <a:rPr sz="740" b="0" i="0">
                <a:solidFill>
                  <a:srgbClr val="FFFFFF"/>
                </a:solidFill>
                <a:latin typeface="Helvetica"/>
              </a:rPr>
              <a:t>   clear any gate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517136" y="54864"/>
            <a:ext cx="1828800" cy="21031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99432" y="123444"/>
            <a:ext cx="16642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>
                <a:solidFill>
                  <a:srgbClr val="065F46"/>
                </a:solidFill>
                <a:latin typeface="Helvetica"/>
              </a:rPr>
              <a:t>c</a:t>
            </a:r>
            <a:r>
              <a:rPr sz="850" b="1" i="0">
                <a:solidFill>
                  <a:srgbClr val="1F2328"/>
                </a:solidFill>
                <a:latin typeface="Helvetica"/>
              </a:rPr>
              <a:t>   Early exit is not the problem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99432" y="260604"/>
            <a:ext cx="16642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 i="1">
                <a:solidFill>
                  <a:srgbClr val="6B7280"/>
                </a:solidFill>
                <a:latin typeface="Helvetica"/>
              </a:rPr>
              <a:t>same sweep, gates and accounting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17720" y="512064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00" b="1" i="0">
                <a:solidFill>
                  <a:srgbClr val="B45309"/>
                </a:solidFill>
                <a:latin typeface="Helvetica"/>
              </a:rPr>
              <a:t>consensus</a:t>
            </a:r>
          </a:p>
          <a:p>
            <a:pPr algn="ctr">
              <a:lnSpc>
                <a:spcPct val="92000"/>
              </a:lnSpc>
            </a:pPr>
            <a:r>
              <a:rPr sz="540" b="0" i="0">
                <a:solidFill>
                  <a:srgbClr val="6B7280"/>
                </a:solidFill>
                <a:latin typeface="Helvetica"/>
              </a:rPr>
              <a:t>do recent probes</a:t>
            </a:r>
          </a:p>
          <a:p>
            <a:pPr algn="ctr">
              <a:lnSpc>
                <a:spcPct val="92000"/>
              </a:lnSpc>
            </a:pPr>
            <a:r>
              <a:rPr sz="540" b="0" i="0">
                <a:solidFill>
                  <a:srgbClr val="6B7280"/>
                </a:solidFill>
                <a:latin typeface="Helvetica"/>
              </a:rPr>
              <a:t>agree?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68112" y="512064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00" b="1" i="0">
                <a:solidFill>
                  <a:srgbClr val="065F46"/>
                </a:solidFill>
                <a:latin typeface="Helvetica"/>
              </a:rPr>
              <a:t>DEER</a:t>
            </a:r>
          </a:p>
          <a:p>
            <a:pPr algn="ctr">
              <a:lnSpc>
                <a:spcPct val="92000"/>
              </a:lnSpc>
            </a:pPr>
            <a:r>
              <a:rPr sz="540" b="0" i="0">
                <a:solidFill>
                  <a:srgbClr val="6B7280"/>
                </a:solidFill>
                <a:latin typeface="Helvetica"/>
              </a:rPr>
              <a:t>confident at a</a:t>
            </a:r>
          </a:p>
          <a:p>
            <a:pPr algn="ctr">
              <a:lnSpc>
                <a:spcPct val="92000"/>
              </a:lnSpc>
            </a:pPr>
            <a:r>
              <a:rPr sz="540" b="0" i="0">
                <a:solidFill>
                  <a:srgbClr val="6B7280"/>
                </a:solidFill>
                <a:latin typeface="Helvetica"/>
              </a:rPr>
              <a:t>reasoning boundary?</a:t>
            </a:r>
          </a:p>
        </p:txBody>
      </p:sp>
      <p:sp>
        <p:nvSpPr>
          <p:cNvPr id="128" name="Down Arrow 127"/>
          <p:cNvSpPr/>
          <p:nvPr/>
        </p:nvSpPr>
        <p:spPr>
          <a:xfrm>
            <a:off x="4980736" y="875995"/>
            <a:ext cx="51206" cy="5120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9" name="Down Arrow 128"/>
          <p:cNvSpPr/>
          <p:nvPr/>
        </p:nvSpPr>
        <p:spPr>
          <a:xfrm>
            <a:off x="5831128" y="875995"/>
            <a:ext cx="51206" cy="5120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4617720" y="932688"/>
            <a:ext cx="1627632" cy="210312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600" b="1" i="0">
                <a:solidFill>
                  <a:srgbClr val="FFFFFF"/>
                </a:solidFill>
                <a:latin typeface="Helvetica"/>
              </a:rPr>
              <a:t>same sweep · same gates · same accounting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17720" y="1316736"/>
            <a:ext cx="1627632" cy="274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60" b="1" i="0">
                <a:solidFill>
                  <a:srgbClr val="B45309"/>
                </a:solidFill>
                <a:latin typeface="Helvetica"/>
              </a:rPr>
              <a:t>✗  consensus</a:t>
            </a:r>
            <a:r>
              <a:rPr sz="720" b="0" i="0">
                <a:solidFill>
                  <a:srgbClr val="DC2626"/>
                </a:solidFill>
                <a:latin typeface="Helvetica"/>
              </a:rPr>
              <a:t>    0 of 3 gates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617720" y="1664207"/>
            <a:ext cx="1627632" cy="347472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60" b="1" i="0">
                <a:solidFill>
                  <a:srgbClr val="065F46"/>
                </a:solidFill>
                <a:latin typeface="Helvetica"/>
              </a:rPr>
              <a:t>✓  DEER</a:t>
            </a:r>
            <a:r>
              <a:rPr sz="720" b="1" i="0">
                <a:solidFill>
                  <a:srgbClr val="065F46"/>
                </a:solidFill>
                <a:latin typeface="Helvetica"/>
              </a:rPr>
              <a:t>    3 of 3 gates</a:t>
            </a:r>
          </a:p>
          <a:p>
            <a:pPr algn="ctr">
              <a:lnSpc>
                <a:spcPct val="92000"/>
              </a:lnSpc>
            </a:pPr>
            <a:r>
              <a:rPr sz="620" b="0" i="0">
                <a:solidFill>
                  <a:srgbClr val="065F46"/>
                </a:solidFill>
                <a:latin typeface="Helvetica"/>
              </a:rPr>
              <a:t>−0.3 pp accuracy @ 28% tokens saved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664208" y="717803"/>
            <a:ext cx="402336" cy="4407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can any</a:t>
            </a:r>
          </a:p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rule be</a:t>
            </a:r>
          </a:p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safe and</a:t>
            </a:r>
          </a:p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saving?</a:t>
            </a:r>
          </a:p>
        </p:txBody>
      </p:sp>
      <p:sp>
        <p:nvSpPr>
          <p:cNvPr id="134" name="Right Arrow 133"/>
          <p:cNvSpPr/>
          <p:nvPr/>
        </p:nvSpPr>
        <p:spPr>
          <a:xfrm>
            <a:off x="1796796" y="1213408"/>
            <a:ext cx="137160" cy="68580"/>
          </a:xfrm>
          <a:prstGeom prst="rightArrow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4151376" y="762609"/>
            <a:ext cx="402336" cy="35112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is early</a:t>
            </a:r>
          </a:p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exit itself</a:t>
            </a:r>
          </a:p>
          <a:p>
            <a:pPr algn="ctr">
              <a:lnSpc>
                <a:spcPct val="92000"/>
              </a:lnSpc>
            </a:pPr>
            <a:r>
              <a:rPr sz="500" b="0" i="1">
                <a:solidFill>
                  <a:srgbClr val="6B7280"/>
                </a:solidFill>
                <a:latin typeface="Helvetica"/>
              </a:rPr>
              <a:t>impossible?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4283964" y="1168603"/>
            <a:ext cx="137160" cy="68580"/>
          </a:xfrm>
          <a:prstGeom prst="rightArrow">
            <a:avLst/>
          </a:prstGeom>
          <a:solidFill>
            <a:srgbClr val="C7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4864" y="2203704"/>
            <a:ext cx="6291072" cy="256032"/>
          </a:xfrm>
          <a:prstGeom prst="roundRect">
            <a:avLst>
              <a:gd name="adj" fmla="val 10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850" b="0" i="0">
                <a:solidFill>
                  <a:srgbClr val="FFFFFF"/>
                </a:solidFill>
                <a:latin typeface="Helvetica"/>
              </a:rPr>
              <a:t>Early exit is possible — </a:t>
            </a:r>
            <a:r>
              <a:rPr sz="850" b="1" i="1">
                <a:solidFill>
                  <a:srgbClr val="FFFFFF"/>
                </a:solidFill>
                <a:latin typeface="Helvetica"/>
              </a:rPr>
              <a:t>self-consensus</a:t>
            </a:r>
            <a:r>
              <a:rPr sz="850" b="0" i="0">
                <a:solidFill>
                  <a:srgbClr val="FFFFFF"/>
                </a:solidFill>
                <a:latin typeface="Helvetica"/>
              </a:rPr>
              <a:t> is what cannot make it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